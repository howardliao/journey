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E5814"/>
                </a:solidFill>
                <a:latin typeface="Arial"/>
              </a:defRPr>
            </a:pPr>
            <a:r>
              <a:t>EXECUTIVE TURNAROUND WHITE PAPER ｜ MILAN WARM AMBER STYLE</a:t>
            </a:r>
          </a:p>
          <a:p>
            <a:pPr>
              <a:spcAft>
                <a:spcPts val="1000"/>
              </a:spcAft>
              <a:defRPr sz="3200" b="1">
                <a:solidFill>
                  <a:srgbClr val="A83212"/>
                </a:solidFill>
                <a:latin typeface="PingFang TC"/>
              </a:defRPr>
            </a:pPr>
            <a:r>
              <a:t>組織從零到一的降維突圍實戰報告</a:t>
            </a:r>
          </a:p>
          <a:p>
            <a:pPr>
              <a:spcAft>
                <a:spcPts val="2000"/>
              </a:spcAft>
              <a:defRPr sz="1500">
                <a:solidFill>
                  <a:srgbClr val="2D3748"/>
                </a:solidFill>
                <a:latin typeface="PingFang TC"/>
              </a:defRPr>
            </a:pPr>
            <a:r>
              <a:t>在「隕石開發」與「老臣防衛」夾縫中，以極簡工具給團隊穿上防彈衣的心路歷程</a:t>
            </a:r>
          </a:p>
          <a:p>
            <a:pPr>
              <a:defRPr sz="1200" b="1">
                <a:solidFill>
                  <a:srgbClr val="D97706"/>
                </a:solidFill>
                <a:latin typeface="PingFang TC"/>
              </a:defRPr>
            </a:pPr>
            <a:r>
              <a:t>報告人：Howard Liao Ph.D. ｜ 評析視角：Ben Horowitz × John Kotter 戰時管理哲學</a:t>
            </a:r>
            <a:br/>
            <a:r>
              <a:t>關鍵心法：「不是什麼光榮厲害的升級，單純就是他們是 0，隨便加都有效。」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45720"/>
          </a:xfrm>
          <a:prstGeom prst="rect">
            <a:avLst/>
          </a:prstGeom>
          <a:solidFill>
            <a:srgbClr val="DE5814"/>
          </a:solidFill>
          <a:ln>
            <a:solidFill>
              <a:srgbClr val="DE5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83212"/>
                </a:solidFill>
                <a:latin typeface="PingFang TC"/>
              </a:defRPr>
            </a:pPr>
            <a:r>
              <a:t>心路歷程全景：九大階段的降維演化史</a:t>
            </a:r>
          </a:p>
          <a:p>
            <a:pPr>
              <a:defRPr sz="1100">
                <a:solidFill>
                  <a:srgbClr val="718096"/>
                </a:solidFill>
                <a:latin typeface="PingFang TC"/>
              </a:defRPr>
            </a:pPr>
            <a:r>
              <a:t>從宏觀架構的挫敗、對賭協議，到沙盒試驗與分組引導破局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PingFang TC"/>
              </a:defRPr>
            </a:pPr>
            <a:r>
              <a:t>組織從零到一的降維突圍實戰報告 ｜ 報告人 Howard Liao Ph.D. ｜ 第 2 頁 / 共 10 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21945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A83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A83212"/>
                </a:solidFill>
                <a:latin typeface="PingFang TC"/>
              </a:defRPr>
            </a:pPr>
            <a:r>
              <a:t>階段 1~3：失焦與攤牌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階段1：69頁宏觀架構提案，講太深老闆看不懂，傳話失真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階段2：降維為0.1% DAU商業算盤，傳話筒再度變調，提辭呈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階段3：直球對決掀開大象，立下0.1%DAU軍令狀(2027.1.22)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21945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E5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A83212"/>
                </a:solidFill>
                <a:latin typeface="PingFang TC"/>
              </a:defRPr>
            </a:pPr>
            <a:r>
              <a:t>階段 4~6：沙盒與反撲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階段4：成立專案試驗組，樂高破冰、使用說明書、雙軌MVP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階段5：1個月後老闆急躁反撲丟大哉問；再提辭呈，承諾善後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階段6：企劃營運/前端/後端三線差異化引導，建構指標字典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291840" cy="21945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A83212"/>
                </a:solidFill>
                <a:latin typeface="PingFang TC"/>
              </a:defRPr>
            </a:pPr>
            <a:r>
              <a:t>階段 7~9：自證與閉環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階段7：各組產出專業工作流與指標，老闆看懂價值發布公告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階段8：九宮格面談、成員定位、工作重配、制度建立閉環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階段9：絕緣層策略——透過創辦人與HR轉達，保持戰略隔離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6070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A83212"/>
                </a:solidFill>
                <a:latin typeface="PingFang TC"/>
              </a:defRPr>
            </a:pPr>
            <a:r>
              <a:t>達人實戰洞察：為什麼「隨便加都有效」？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非成熟企業的典型死穴：制度為 0，人人都在揣摩老闆意圖，老闆靠情緒下達『隕石需求』。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前進部署型高管的破局點：不被情緒捲入，以最小阻力工具（三好一支援、JD、指標字典）快速把基線拉升至 1。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組織隔離（Decoupling）：既然頻率不對，不要硬磨合討好，讓創辦人與 HR 做防爆層，自己專注賦能團隊。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45720"/>
          </a:xfrm>
          <a:prstGeom prst="rect">
            <a:avLst/>
          </a:prstGeom>
          <a:solidFill>
            <a:srgbClr val="DE5814"/>
          </a:solidFill>
          <a:ln>
            <a:solidFill>
              <a:srgbClr val="DE5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83212"/>
                </a:solidFill>
                <a:latin typeface="PingFang TC"/>
              </a:defRPr>
            </a:pPr>
            <a:r>
              <a:t>階段 1 &amp; 2：宏觀提案的撞牆與 0.1% DAU 損益模型</a:t>
            </a:r>
          </a:p>
          <a:p>
            <a:pPr>
              <a:defRPr sz="1100">
                <a:solidFill>
                  <a:srgbClr val="718096"/>
                </a:solidFill>
                <a:latin typeface="PingFang TC"/>
              </a:defRPr>
            </a:pPr>
            <a:r>
              <a:t>架構師的維度不對稱，到硬核財務算盤的降維轉換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PingFang TC"/>
              </a:defRPr>
            </a:pPr>
            <a:r>
              <a:t>組織從零到一的降維突圍實戰報告 ｜ 報告人 Howard Liao Ph.D. ｜ 第 3 頁 / 共 10 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A83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A83212"/>
                </a:solidFill>
                <a:latin typeface="PingFang TC"/>
              </a:defRPr>
            </a:pPr>
            <a:r>
              <a:t>階段 1：69 頁宏觀藍圖的挫敗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病灶盤點：多後台共用僵化 DB、4in1 只改 UI 未改商業本質、60% 代理商靠爬蟲看數據、人工事後風控。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宏大解法：14 項加權評分決策矩陣（3 波次規劃）、5 種組織方案、3 種組織圖、AI 戰情室。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撞牆原因：傳話筒過濾失真。老闆要的是立即賺錢的抓手，架構師端出的是百年基業藍圖，維度完全錯位。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5720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E5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A83212"/>
                </a:solidFill>
                <a:latin typeface="PingFang TC"/>
              </a:defRPr>
            </a:pPr>
            <a:r>
              <a:t>階段 2：極致降維的 0.1% DAU 算盤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人事成本端：35 人工程團隊 × 75,000 元/月 = 2,625,000 NTD/月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增益產出端：H1 DAU 150,000，提升 0.1% = 增加 150 人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月營收轉換：150人 × 20%付費率 × 2,750 ARPPU × 30天 = 2,475,000 NTD/月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戰略定錨：『只要提升 0.1% DAU，就能打平 35 人團隊全部薪水！』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第三次失焦：傳話人回饋老闆又改口，認知到『硬磨合只會淪為討好』，遞出辭呈。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45720"/>
          </a:xfrm>
          <a:prstGeom prst="rect">
            <a:avLst/>
          </a:prstGeom>
          <a:solidFill>
            <a:srgbClr val="DE5814"/>
          </a:solidFill>
          <a:ln>
            <a:solidFill>
              <a:srgbClr val="DE5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83212"/>
                </a:solidFill>
                <a:latin typeface="PingFang TC"/>
              </a:defRPr>
            </a:pPr>
            <a:r>
              <a:t>階段 3 &amp; 4：直球對決大象與專案試驗組破局</a:t>
            </a:r>
          </a:p>
          <a:p>
            <a:pPr>
              <a:defRPr sz="1100">
                <a:solidFill>
                  <a:srgbClr val="718096"/>
                </a:solidFill>
                <a:latin typeface="PingFang TC"/>
              </a:defRPr>
            </a:pPr>
            <a:r>
              <a:t>從 22 頁軍令狀到沙盒小組的人性化 MVP 快跑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PingFang TC"/>
              </a:defRPr>
            </a:pPr>
            <a:r>
              <a:t>組織從零到一的降維突圍實戰報告 ｜ 報告人 Howard Liao Ph.D. ｜ 第 4 頁 / 共 10 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A83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A83212"/>
                </a:solidFill>
                <a:latin typeface="PingFang TC"/>
              </a:defRPr>
            </a:pPr>
            <a:r>
              <a:t>階段 3：掀開房間裡的大象（直球攤牌）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不透過傳話人：面對遊戲創辦人與 HR 長，一張一張投影片投影對決。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直刺痛點：『大家都在講老闆喜歡聽的話，這不是磨合而是虛偽；用製造問題的腦袋解決不了問題。』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三大產品潛規則：需求揣測、遊戲介接照單全收、無效益檢視。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三項硬核資歷：帶過 237 人變革、1.5 億拉到 1.7 億、架構四級到底層重構。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三項對賭契約：信任(自主)＋授權(調配)＋授責(DAU 0.1%)，簽名為證，2027.1.22 未達標離開。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5720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E5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A83212"/>
                </a:solidFill>
                <a:latin typeface="PingFang TC"/>
              </a:defRPr>
            </a:pPr>
            <a:r>
              <a:t>階段 4：專案試驗組（沙盒 MVP 體系）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心理安全破冰：彼得杜拉克破題，樂高動手拼『成就感時刻』。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我的使用說明書：風格(拆解混亂)、熱愛(邏輯追問非反對)、地雷(答應又做不到)、盲點(思維跳躍)、認可(交付難題)。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情境領導四象限：告知、解釋、教練、授權，因才適用。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雙軌作戰機制：維護線穩住既有業務，試驗線每 3 週推動一個 MVP（前端埋點、Web Push、防屏蔽 APK、指標戰情室）。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45720"/>
          </a:xfrm>
          <a:prstGeom prst="rect">
            <a:avLst/>
          </a:prstGeom>
          <a:solidFill>
            <a:srgbClr val="DE5814"/>
          </a:solidFill>
          <a:ln>
            <a:solidFill>
              <a:srgbClr val="DE5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83212"/>
                </a:solidFill>
                <a:latin typeface="PingFang TC"/>
              </a:defRPr>
            </a:pPr>
            <a:r>
              <a:t>階段 5 &amp; 6：老闆急躁大哉問與高管善後承諾</a:t>
            </a:r>
          </a:p>
          <a:p>
            <a:pPr>
              <a:defRPr sz="1100">
                <a:solidFill>
                  <a:srgbClr val="718096"/>
                </a:solidFill>
                <a:latin typeface="PingFang TC"/>
              </a:defRPr>
            </a:pPr>
            <a:r>
              <a:t>將老闆的情緒質疑，逆向轉化為團隊的『轉骨成人禮』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PingFang TC"/>
              </a:defRPr>
            </a:pPr>
            <a:r>
              <a:t>組織從零到一的降維突圍實戰報告 ｜ 報告人 Howard Liao Ph.D. ｜ 第 5 頁 / 共 10 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A83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A83212"/>
                </a:solidFill>
                <a:latin typeface="PingFang TC"/>
              </a:defRPr>
            </a:pPr>
            <a:r>
              <a:t>階段 5：急躁反撲與『大哉問』危機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推行 1 個月危機：變革打底需要時間，老闆心急又想收回主導權，恢復即興開發。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氣噗噗的大哉問：要求各組『自行討論各自價值，證明給我看！』造成基層恐慌茫然。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高管的冷靜抽離：再次提出辭呈，深知頂層定力不足不可強留。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負責任的善後承諾：『不留爛攤子！我走之前協助各組完成價值引導與 KPI 作業，幫團隊站穩再走。』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5720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E5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A83212"/>
                </a:solidFill>
                <a:latin typeface="PingFang TC"/>
              </a:defRPr>
            </a:pPr>
            <a:r>
              <a:t>階段 6：三組差異化引導策略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企劃營運組 (10人)：解決『接隕石、無KPI、各自孤島』問題 ➔ 導入三好一支援、全盤點、5大構面指標字典、Kai JD。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前端工程組 (9人)：解決『組長卡位防衛、小團體、負載不均』問題 ➔ 抽卡牌破冰、6大職涯路線、人才九宮格破單點壟斷。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後端與DBA組 (14人)：解決『18年開國老臣深層防衛、各自為政』問題 ➔ 瓦解三大防衛、逆向提問、ORID焦點法、John JD。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45720"/>
          </a:xfrm>
          <a:prstGeom prst="rect">
            <a:avLst/>
          </a:prstGeom>
          <a:solidFill>
            <a:srgbClr val="DE5814"/>
          </a:solidFill>
          <a:ln>
            <a:solidFill>
              <a:srgbClr val="DE5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83212"/>
                </a:solidFill>
                <a:latin typeface="PingFang TC"/>
              </a:defRPr>
            </a:pPr>
            <a:r>
              <a:t>團隊突破一：企劃營運組 —— 化解隕石開發與孤島內耗</a:t>
            </a:r>
          </a:p>
          <a:p>
            <a:pPr>
              <a:defRPr sz="1100">
                <a:solidFill>
                  <a:srgbClr val="718096"/>
                </a:solidFill>
                <a:latin typeface="PingFang TC"/>
              </a:defRPr>
            </a:pPr>
            <a:r>
              <a:t>導入三好一支援、5 大構面指標字典與週三節奏會議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PingFang TC"/>
              </a:defRPr>
            </a:pPr>
            <a:r>
              <a:t>組織從零到一的降維突圍實戰報告 ｜ 報告人 Howard Liao Ph.D. ｜ 第 6 頁 / 共 10 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A83212"/>
                </a:solidFill>
                <a:latin typeface="PingFang TC"/>
              </a:defRPr>
            </a:pPr>
            <a:r>
              <a:t>企劃營運真實病灶與破冰手法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人員構成：6 企劃 ＋ 2 遊戲串接 ＋ 1 營運 ＋ 1 行銷，共 10 人。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極端失衡：成熟產品無需求、新創產品天天救火；老闆眼中『一個很亂一個能力不到位』；串接企劃閒置，營運行銷剛加入不知所措。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三好一支援：每人盤點『3 個強項 ＋ 2 個能支援別人 ＋ 1 個需要團隊支援』，把割裂的孤島織成互相補位的協作網。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建立節奏會議：週三 15:00 需求單週會、15:30 競品雙週會、16:00 遊戲三週會、每月初數據月會。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A83212"/>
                </a:solidFill>
                <a:latin typeface="PingFang TC"/>
              </a:defRPr>
            </a:pPr>
            <a:r>
              <a:t>五大構面指標字典（落地盔甲）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企劃指標：提案採用率、需求重工率(Rework Rate)、需求清晰度、需求前置時間(Lead Time)。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營運指標：日常設定正確度、活動準時上線率、異常發現速度、活動實際 ROI、玩家召回率(Reactivation)。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行銷指標：素材製作時間、有效素材率(Winning Rate)、渠道轉化率、獲客成本(CAC)。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遊戲介接指標：一次測試成功率(First-pass Rate)、介接錯誤率、串接遊戲商業價值(接了到底有沒有人玩)。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產出 Kai 職務說明書 (JD)：確立日常營運、活動策劃、數據監控、異常追蹤之具體權責。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45720"/>
          </a:xfrm>
          <a:prstGeom prst="rect">
            <a:avLst/>
          </a:prstGeom>
          <a:solidFill>
            <a:srgbClr val="DE5814"/>
          </a:solidFill>
          <a:ln>
            <a:solidFill>
              <a:srgbClr val="DE5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83212"/>
                </a:solidFill>
                <a:latin typeface="PingFang TC"/>
              </a:defRPr>
            </a:pPr>
            <a:r>
              <a:t>團隊突破二：前端工程組 —— 突破組長防線與九宮格啟動</a:t>
            </a:r>
          </a:p>
          <a:p>
            <a:pPr>
              <a:defRPr sz="1100">
                <a:solidFill>
                  <a:srgbClr val="718096"/>
                </a:solidFill>
                <a:latin typeface="PingFang TC"/>
              </a:defRPr>
            </a:pPr>
            <a:r>
              <a:t>用 6 大職涯發展路線與 PPM 人才矩陣釋放工程潛力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PingFang TC"/>
              </a:defRPr>
            </a:pPr>
            <a:r>
              <a:t>組織從零到一的降維突圍實戰報告 ｜ 報告人 Howard Liao Ph.D. ｜ 第 7 頁 / 共 10 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A83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A83212"/>
                </a:solidFill>
                <a:latin typeface="PingFang TC"/>
              </a:defRPr>
            </a:pPr>
            <a:r>
              <a:t>前端團隊組織病灶與破局手段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人員結構：9 位前端工程師。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組長卡位痛點：待了 6 年，無主管素養，會擋需求，公司合作方的頭痛人物，但在老闆面前極度擅長表現；組員有樣學樣，小團體林立，以前甚至禁止技術交流。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工作嚴重不均：有人負載極重、有人整天閒置。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抽卡牌破冰：以優勢卡打破防衛，拋出靈魂拷問：『如果三年後你的生活工作有所改變，那是因為你做了什麼？工作資歷是一個十年，還是十個一年？』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5720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E5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A83212"/>
                </a:solidFill>
                <a:latin typeface="PingFang TC"/>
              </a:defRPr>
            </a:pPr>
            <a:r>
              <a:t>前端 6 大路線與人才九宮格實作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前端 6 大職涯路線：</a:t>
            </a:r>
            <a:br/>
            <a:r>
              <a:t>  A. Team Leadership ｜ B. 效能與品質</a:t>
            </a:r>
            <a:br/>
            <a:r>
              <a:t>  C. 產品型前端 ｜ D. 架構與平台</a:t>
            </a:r>
            <a:br/>
            <a:r>
              <a:t>  E. Delivery/Ownership ｜ F. 技術影響力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前端人才九宮格定位：</a:t>
            </a:r>
            <a:br/>
            <a:r>
              <a:t>  • 明日之星：Zoe（會規劃、舉一反三）</a:t>
            </a:r>
            <a:br/>
            <a:r>
              <a:t>  • 績效之星：Ian, Liv（主動負責、想辦法解決）</a:t>
            </a:r>
            <a:br/>
            <a:r>
              <a:t>  • 熟練員工：Jack（有熟練度但缺彈性）</a:t>
            </a:r>
            <a:br/>
            <a:r>
              <a:t>  • 潛力/中間：凱能, 昇陽, 丁丁, Miya, 毛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成果突破：繞過單點壟斷，授權潛力星獨立主責中型 Feature，打破派系與怠惰。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45720"/>
          </a:xfrm>
          <a:prstGeom prst="rect">
            <a:avLst/>
          </a:prstGeom>
          <a:solidFill>
            <a:srgbClr val="DE5814"/>
          </a:solidFill>
          <a:ln>
            <a:solidFill>
              <a:srgbClr val="DE5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83212"/>
                </a:solidFill>
                <a:latin typeface="PingFang TC"/>
              </a:defRPr>
            </a:pPr>
            <a:r>
              <a:t>團隊突破三：後端與 DBA 組 —— 瓦解 18 年老臣防衛心理</a:t>
            </a:r>
          </a:p>
          <a:p>
            <a:pPr>
              <a:defRPr sz="1100">
                <a:solidFill>
                  <a:srgbClr val="718096"/>
                </a:solidFill>
                <a:latin typeface="PingFang TC"/>
              </a:defRPr>
            </a:pPr>
            <a:r>
              <a:t>透過逆向提問、ORID 焦點討論法與 9 大技術深度路線奠基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PingFang TC"/>
              </a:defRPr>
            </a:pPr>
            <a:r>
              <a:t>組織從零到一的降維突圍實戰報告 ｜ 報告人 Howard Liao Ph.D. ｜ 第 8 頁 / 共 10 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A83212"/>
                </a:solidFill>
                <a:latin typeface="PingFang TC"/>
              </a:defRPr>
            </a:pPr>
            <a:r>
              <a:t>開國老臣團隊的三重防衛心理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人員構成：11 位後端 ＋ 3 位 DBA，1/3 都是 16~18 年開國元老。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無技術主管：只有專案窗口，缺乏人力調度權，工作分配不均，彼此不熟悉。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老員工的三重防衛：</a:t>
            </a:r>
            <a:br/>
            <a:r>
              <a:t>  1. 地位防衛：『我待這麼久，憑什麼被重新分工？』</a:t>
            </a:r>
            <a:br/>
            <a:r>
              <a:t>  2. 利益防衛：『今天是不是要選主管、動我的位置？』</a:t>
            </a:r>
            <a:br/>
            <a:r>
              <a:t>  3. 關係防衛：『我講真話之後會不會被拿來整我？』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逆向破局提問：『如果一年後團隊變得更差，最可能是因為什麼？』逼出成員主動承認：『我們需要有人整合！』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A83212"/>
                </a:solidFill>
                <a:latin typeface="PingFang TC"/>
              </a:defRPr>
            </a:pPr>
            <a:r>
              <a:t>後端 9 大技術路線與成就成熟團隊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ORID 焦點法：從客觀事件曲線(O)、情緒反思(R)、重新詮釋痛點(I)，連結至 Q4 決定(D)。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成熟團隊定義：『這場會議不是要讓大家變成朋友，而是即使不是朋友，也能認同一套公平的合作規則。』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後端 9 大技術路線（A~I）：深度/分散式/效能穩定/DB工程/DevOps/Domain/安全品質/團隊賦能/工程管理。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資深後端 John（18年資歷）職務說明書：明確職位定位、6大職責配比、Technical Clarification 與 Task Breakdown 標準。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45720"/>
          </a:xfrm>
          <a:prstGeom prst="rect">
            <a:avLst/>
          </a:prstGeom>
          <a:solidFill>
            <a:srgbClr val="DE5814"/>
          </a:solidFill>
          <a:ln>
            <a:solidFill>
              <a:srgbClr val="DE5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83212"/>
                </a:solidFill>
                <a:latin typeface="PingFang TC"/>
              </a:defRPr>
            </a:pPr>
            <a:r>
              <a:t>階段 7~9：老闆公告、制度閉環與高管「絕緣層」智慧</a:t>
            </a:r>
          </a:p>
          <a:p>
            <a:pPr>
              <a:defRPr sz="1100">
                <a:solidFill>
                  <a:srgbClr val="718096"/>
                </a:solidFill>
                <a:latin typeface="PingFang TC"/>
              </a:defRPr>
            </a:pPr>
            <a:r>
              <a:t>以成果促成全體公告，用制度保護團隊，功成不必在我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PingFang TC"/>
              </a:defRPr>
            </a:pPr>
            <a:r>
              <a:t>組織從零到一的降維突圍實戰報告 ｜ 報告人 Howard Liao Ph.D. ｜ 第 9 頁 / 共 10 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5720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A83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A83212"/>
                </a:solidFill>
                <a:latin typeface="PingFang TC"/>
              </a:defRPr>
            </a:pPr>
            <a:r>
              <a:t>階段 7：自證其價與高層公告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各組拿出前所未有的高質量產出：流程圖、指標字典、個人 Q4 任務、JD。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老闆親眼看見各組自發定義的價值，怒氣消散，真正理解架構師的意圖。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正式發布全體組織調整與年度目標公告，確立變革合法性。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5720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E5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A83212"/>
                </a:solidFill>
                <a:latin typeface="PingFang TC"/>
              </a:defRPr>
            </a:pPr>
            <a:r>
              <a:t>階段 8：制度閉環與人員定位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逐一面談：手持九宮格狀態與 Q4 KPI，落實個人定位與責任範圍。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重新分工：把工作重新分配，解除單點過載與過閒。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機制建立：將需求協調、跨部門支援、知識庫維護寫入 SOP。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人才補缺：精準盤點團隊短缺技能，啟動補強。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291840" cy="45720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A83212"/>
                </a:solidFill>
                <a:latin typeface="PingFang TC"/>
              </a:defRPr>
            </a:pPr>
            <a:r>
              <a:t>階段 9：戰略絕緣層（Decoupling）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『依然跟老闆不對頻，透過創辦人與 HR 轉達，還不想跟他溝通(laugh Moon)』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最高明的防爆架構：老闆情緒是不可控變數，建立絕緣層保護團隊不被隕石砸傷。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讓創辦人與 HR 當避震器，自己專注於骨架搭建，成就團隊。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『功成不必在我，事情成了最重要。』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45720"/>
          </a:xfrm>
          <a:prstGeom prst="rect">
            <a:avLst/>
          </a:prstGeom>
          <a:solidFill>
            <a:srgbClr val="DE5814"/>
          </a:solidFill>
          <a:ln>
            <a:solidFill>
              <a:srgbClr val="DE58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A83212"/>
                </a:solidFill>
                <a:latin typeface="PingFang TC"/>
              </a:defRPr>
            </a:pPr>
            <a:r>
              <a:t>總結：戰時高管的真實自白與組織啟示</a:t>
            </a:r>
          </a:p>
          <a:p>
            <a:pPr>
              <a:defRPr sz="1100">
                <a:solidFill>
                  <a:srgbClr val="718096"/>
                </a:solidFill>
                <a:latin typeface="PingFang TC"/>
              </a:defRPr>
            </a:pPr>
            <a:r>
              <a:t>在荒漠中打地基：從 0 到 1 的防禦型敏捷領導力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PingFang TC"/>
              </a:defRPr>
            </a:pPr>
            <a:r>
              <a:t>組織從零到一的降維突圍實戰報告 ｜ 報告人 Howard Liao Ph.D. ｜ 第 10 頁 / 共 10 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5720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A83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600"/>
              </a:spcAft>
              <a:defRPr sz="1300" b="1">
                <a:solidFill>
                  <a:srgbClr val="A83212"/>
                </a:solidFill>
                <a:latin typeface="PingFang TC"/>
              </a:defRPr>
            </a:pPr>
            <a:r>
              <a:t>【核心體悟】這不是光榮的技術升級，這是一場在 0 基線上的急救復甦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1. 承認基線是 0：不要對混亂組織心存幻想，隨便加一套清晰有理的制度都具備倍增槓桿。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2. 傳話筒是組織毒瘤：永遠不要透過缺乏架構理解的中階向上提案，頻率錯位時，要嘛直球對賭，要嘛轉身離開。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3. 對賭契約保護專業尊嚴：拿出 0.1% DAU 的商業承諾，讓高層閉嘴、讓團隊有生存空間。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4. 給團隊穿上防彈衣：隕石開發不可避免，唯有用『三好一支援』、『指標字典』與『JD權責』為團隊鑄造防禦工事。</a:t>
            </a:r>
          </a:p>
          <a:p>
            <a:pPr>
              <a:spcAft>
                <a:spcPts val="300"/>
              </a:spcAft>
              <a:defRPr sz="1000">
                <a:solidFill>
                  <a:srgbClr val="2D3748"/>
                </a:solidFill>
                <a:latin typeface="PingFang TC"/>
              </a:defRPr>
            </a:pPr>
            <a:r>
              <a:t>• 5. 戰略絕緣是成熟領導者的溫柔：接受老闆的性格侷限，借力打力，把制度留給夥伴，笑看風雲。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